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Poppins" charset="1" panose="00000500000000000000"/>
      <p:regular r:id="rId12"/>
    </p:embeddedFont>
    <p:embeddedFont>
      <p:font typeface="Lato Bold" charset="1" panose="020F0502020204030203"/>
      <p:regular r:id="rId13"/>
    </p:embeddedFont>
    <p:embeddedFont>
      <p:font typeface="Lato" charset="1" panose="020F050202020403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06282" y="-1213717"/>
            <a:ext cx="8306036" cy="5971175"/>
          </a:xfrm>
          <a:custGeom>
            <a:avLst/>
            <a:gdLst/>
            <a:ahLst/>
            <a:cxnLst/>
            <a:rect r="r" b="b" t="t" l="l"/>
            <a:pathLst>
              <a:path h="5971175" w="8306036">
                <a:moveTo>
                  <a:pt x="0" y="0"/>
                </a:moveTo>
                <a:lnTo>
                  <a:pt x="8306036" y="0"/>
                </a:lnTo>
                <a:lnTo>
                  <a:pt x="8306036" y="5971175"/>
                </a:lnTo>
                <a:lnTo>
                  <a:pt x="0" y="5971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-50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8640" y="476250"/>
            <a:ext cx="16330635" cy="256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8"/>
              </a:lnSpc>
            </a:pPr>
            <a:r>
              <a:rPr lang="en-US" sz="5934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MULTI-APERTURE TRANSFORMERS FOR 3D (MAT3D) SEGMENTATION OF CLINICAL AND MICROSCOPIC IMAGES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6740" y="3051811"/>
            <a:ext cx="13141720" cy="3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Authors: Muhammad Sohaib, Siyavash Shabani, et al. (University of Nevada, Reno)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2693" y="4007060"/>
            <a:ext cx="12072253" cy="461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true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Addressed:</a:t>
            </a:r>
            <a:r>
              <a:rPr lang="en-US" sz="240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The challenge of perfectly separating and segmenting complex, clumped 3D biological structures (e.g., cell nuclei, cardiovascular chambers).</a:t>
            </a:r>
          </a:p>
          <a:p>
            <a:pPr algn="l">
              <a:lnSpc>
                <a:spcPts val="3371"/>
              </a:lnSpc>
            </a:pPr>
          </a:p>
          <a:p>
            <a:pPr algn="l">
              <a:lnSpc>
                <a:spcPts val="3371"/>
              </a:lnSpc>
              <a:spcBef>
                <a:spcPct val="0"/>
              </a:spcBef>
            </a:pPr>
            <a:r>
              <a:rPr lang="en-US" b="true" sz="2407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  <a:r>
              <a:rPr lang="en-US" sz="240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: A novel 3D segmentation frame</a:t>
            </a:r>
            <a:r>
              <a:rPr lang="en-US" sz="240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work that integrates the global context-awareness of Transformer networks (like SwinUNETR) with the local feature extraction of Convolutional Neural Networks (CNNs).</a:t>
            </a:r>
          </a:p>
          <a:p>
            <a:pPr algn="l">
              <a:lnSpc>
                <a:spcPts val="3371"/>
              </a:lnSpc>
              <a:spcBef>
                <a:spcPct val="0"/>
              </a:spcBef>
            </a:pPr>
          </a:p>
          <a:p>
            <a:pPr algn="l">
              <a:lnSpc>
                <a:spcPts val="3371"/>
              </a:lnSpc>
              <a:spcBef>
                <a:spcPct val="0"/>
              </a:spcBef>
            </a:pPr>
            <a:r>
              <a:rPr lang="en-US" b="true" sz="2407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Core Contribution:</a:t>
            </a:r>
            <a:r>
              <a:rPr lang="en-US" sz="240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It uses a unique "Multi-Aperture" approach to capture details across different receptive fields, achieving high precision in dense 3D volumes.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2050" y="9367838"/>
            <a:ext cx="370177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Om Kumar (b23bb1030)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46510" y="9367837"/>
            <a:ext cx="431308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Iha Goyal (b23bb1020)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644945" y="4321371"/>
            <a:ext cx="5223617" cy="3623884"/>
          </a:xfrm>
          <a:custGeom>
            <a:avLst/>
            <a:gdLst/>
            <a:ahLst/>
            <a:cxnLst/>
            <a:rect r="r" b="b" t="t" l="l"/>
            <a:pathLst>
              <a:path h="3623884" w="5223617">
                <a:moveTo>
                  <a:pt x="0" y="0"/>
                </a:moveTo>
                <a:lnTo>
                  <a:pt x="5223617" y="0"/>
                </a:lnTo>
                <a:lnTo>
                  <a:pt x="5223617" y="3623884"/>
                </a:lnTo>
                <a:lnTo>
                  <a:pt x="0" y="3623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98308" y="3691410"/>
            <a:ext cx="6670500" cy="6270270"/>
          </a:xfrm>
          <a:custGeom>
            <a:avLst/>
            <a:gdLst/>
            <a:ahLst/>
            <a:cxnLst/>
            <a:rect r="r" b="b" t="t" l="l"/>
            <a:pathLst>
              <a:path h="6270270" w="6670500">
                <a:moveTo>
                  <a:pt x="0" y="0"/>
                </a:moveTo>
                <a:lnTo>
                  <a:pt x="6670500" y="0"/>
                </a:lnTo>
                <a:lnTo>
                  <a:pt x="6670500" y="6270270"/>
                </a:lnTo>
                <a:lnTo>
                  <a:pt x="0" y="6270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5985" y="713019"/>
            <a:ext cx="12276969" cy="202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OUR APPROACH AND SPECIFIC CONTRIBUTIONS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5985" y="3159132"/>
            <a:ext cx="10097440" cy="673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271" indent="-244635" lvl="1">
              <a:lnSpc>
                <a:spcPts val="3172"/>
              </a:lnSpc>
              <a:buFont typeface="Arial"/>
              <a:buChar char="•"/>
            </a:pPr>
            <a:r>
              <a:rPr lang="en-US" b="true" sz="2266" u="sng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 Reproduction</a:t>
            </a:r>
            <a:r>
              <a:rPr lang="en-US" sz="2266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: Engineered an automated MLOps pipeline to convert 300 raw ACDC HDF5 volumes to NIfTI, successfully reproducing the MAT3D framework.</a:t>
            </a:r>
          </a:p>
          <a:p>
            <a:pPr algn="l">
              <a:lnSpc>
                <a:spcPts val="3172"/>
              </a:lnSpc>
            </a:pPr>
          </a:p>
          <a:p>
            <a:pPr algn="l" marL="467682" indent="-233841" lvl="1">
              <a:lnSpc>
                <a:spcPts val="3032"/>
              </a:lnSpc>
              <a:buFont typeface="Arial"/>
              <a:buChar char="•"/>
            </a:pPr>
            <a:r>
              <a:rPr lang="en-US" b="true" sz="2166" u="sng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Identified Flaw:</a:t>
            </a:r>
            <a:r>
              <a:rPr lang="en-US" sz="2166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Standard Vision Transformers (Swin) rely on localized windowed attention, creating an O(N²) memory bottleneck that restricts continuous 3D spatial awareness.</a:t>
            </a:r>
          </a:p>
          <a:p>
            <a:pPr algn="l">
              <a:lnSpc>
                <a:spcPts val="3032"/>
              </a:lnSpc>
            </a:pPr>
          </a:p>
          <a:p>
            <a:pPr algn="l" marL="489271" indent="-244635" lvl="1">
              <a:lnSpc>
                <a:spcPts val="3172"/>
              </a:lnSpc>
              <a:buFont typeface="Arial"/>
              <a:buChar char="•"/>
            </a:pPr>
            <a:r>
              <a:rPr lang="en-US" b="true" sz="2266" u="sng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Our Novel Solution (The "Extra")</a:t>
            </a:r>
            <a:r>
              <a:rPr lang="en-US" sz="2266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: We developed the MAT-Mamba Hybrid architecture. We performed "architectural surgery" to replace the Swin-T4 bottleneck with a Linear-Time State-Space Model (Mamba).</a:t>
            </a:r>
          </a:p>
          <a:p>
            <a:pPr algn="l">
              <a:lnSpc>
                <a:spcPts val="3172"/>
              </a:lnSpc>
            </a:pPr>
          </a:p>
          <a:p>
            <a:pPr algn="l" marL="489271" indent="-244635" lvl="1">
              <a:lnSpc>
                <a:spcPts val="3172"/>
              </a:lnSpc>
              <a:buFont typeface="Arial"/>
              <a:buChar char="•"/>
            </a:pPr>
            <a:r>
              <a:rPr lang="en-US" b="true" sz="2266" u="sng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Dynamic Mamba Bridge:</a:t>
            </a:r>
            <a:r>
              <a:rPr lang="en-US" sz="2266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Wrote a custom Mamba3DLayer with a residual connection (x + Mamba(x)) to efficiently flatten 3D data, capturing global anatomical context at O(N) efficiency.</a:t>
            </a:r>
          </a:p>
          <a:p>
            <a:pPr algn="l">
              <a:lnSpc>
                <a:spcPts val="31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626729">
            <a:off x="-8150877" y="2920090"/>
            <a:ext cx="10654300" cy="7691706"/>
          </a:xfrm>
          <a:custGeom>
            <a:avLst/>
            <a:gdLst/>
            <a:ahLst/>
            <a:cxnLst/>
            <a:rect r="r" b="b" t="t" l="l"/>
            <a:pathLst>
              <a:path h="7691706" w="10654300">
                <a:moveTo>
                  <a:pt x="10654301" y="0"/>
                </a:moveTo>
                <a:lnTo>
                  <a:pt x="0" y="0"/>
                </a:lnTo>
                <a:lnTo>
                  <a:pt x="0" y="7691706"/>
                </a:lnTo>
                <a:lnTo>
                  <a:pt x="10654301" y="7691706"/>
                </a:lnTo>
                <a:lnTo>
                  <a:pt x="1065430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12511" y="5668010"/>
            <a:ext cx="10444481" cy="3590290"/>
          </a:xfrm>
          <a:custGeom>
            <a:avLst/>
            <a:gdLst/>
            <a:ahLst/>
            <a:cxnLst/>
            <a:rect r="r" b="b" t="t" l="l"/>
            <a:pathLst>
              <a:path h="3590290" w="10444481">
                <a:moveTo>
                  <a:pt x="0" y="0"/>
                </a:moveTo>
                <a:lnTo>
                  <a:pt x="10444481" y="0"/>
                </a:lnTo>
                <a:lnTo>
                  <a:pt x="10444481" y="3590290"/>
                </a:lnTo>
                <a:lnTo>
                  <a:pt x="0" y="3590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72988" y="1028700"/>
            <a:ext cx="4854752" cy="4017657"/>
          </a:xfrm>
          <a:custGeom>
            <a:avLst/>
            <a:gdLst/>
            <a:ahLst/>
            <a:cxnLst/>
            <a:rect r="r" b="b" t="t" l="l"/>
            <a:pathLst>
              <a:path h="4017657" w="4854752">
                <a:moveTo>
                  <a:pt x="0" y="0"/>
                </a:moveTo>
                <a:lnTo>
                  <a:pt x="4854752" y="0"/>
                </a:lnTo>
                <a:lnTo>
                  <a:pt x="4854752" y="4017657"/>
                </a:lnTo>
                <a:lnTo>
                  <a:pt x="0" y="4017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2483" t="-40039" r="-94673" b="-127268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916410" y="2211426"/>
          <a:ext cx="8829675" cy="2514600"/>
        </p:xfrm>
        <a:graphic>
          <a:graphicData uri="http://schemas.openxmlformats.org/presentationml/2006/ole">
            <p:oleObj imgW="10591800" imgH="4267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1101324"/>
            <a:ext cx="926760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Dataset: ACDC Dataset (300 volumes) | Split: 210 Train / 60 Val / 30 Test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6291"/>
            <a:ext cx="1064393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EXPERIMENTAL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6410" y="5015709"/>
            <a:ext cx="6220665" cy="461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The Mamba Advantage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Overcoming Localized Limits:</a:t>
            </a:r>
            <a:r>
              <a:rPr lang="en-U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Standard Swin blocks rely on windowed attention, restricting the ability to track continuous 3D shapes.</a:t>
            </a:r>
          </a:p>
          <a:p>
            <a:pPr algn="l" marL="431802" indent="-215901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sng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Global Sequence Scanning</a:t>
            </a:r>
            <a:r>
              <a:rPr lang="en-U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Our hybrid network utilizes a Linear-Time State-Space Model to dynamically scan the entire 3D volume without local constraints.</a:t>
            </a:r>
          </a:p>
          <a:p>
            <a:pPr algn="l" marL="431802" indent="-215901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sng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Sharper Boundaries:</a:t>
            </a:r>
            <a:r>
              <a:rPr lang="en-U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Mamba effectively "remembers" global context, driving significant improvements in structurally complex regions like the Right Ventricle.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12511" y="9399428"/>
            <a:ext cx="1044448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Qualitative output demonstrating MAT-Mamba accurately delineating complex cardiovascular structures.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1966296"/>
            <a:ext cx="3313271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Computational Efficiency: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WandB profiling proves the linear-time Mamba block bypassed the O(N^2) attention bottleneck, improving accuracy with only a ~0.5GB VRAM increase and identical training time (150m).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226289" y="4590341"/>
            <a:ext cx="9153797" cy="681625"/>
            <a:chOff x="0" y="0"/>
            <a:chExt cx="2410877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877" cy="179523"/>
            </a:xfrm>
            <a:custGeom>
              <a:avLst/>
              <a:gdLst/>
              <a:ahLst/>
              <a:cxnLst/>
              <a:rect r="r" b="b" t="t" l="l"/>
              <a:pathLst>
                <a:path h="179523" w="2410877">
                  <a:moveTo>
                    <a:pt x="54129" y="0"/>
                  </a:moveTo>
                  <a:lnTo>
                    <a:pt x="2356748" y="0"/>
                  </a:lnTo>
                  <a:cubicBezTo>
                    <a:pt x="2371104" y="0"/>
                    <a:pt x="2384872" y="5703"/>
                    <a:pt x="2395023" y="15854"/>
                  </a:cubicBezTo>
                  <a:cubicBezTo>
                    <a:pt x="2405174" y="26005"/>
                    <a:pt x="2410877" y="39773"/>
                    <a:pt x="2410877" y="54129"/>
                  </a:cubicBezTo>
                  <a:lnTo>
                    <a:pt x="2410877" y="125394"/>
                  </a:lnTo>
                  <a:cubicBezTo>
                    <a:pt x="2410877" y="139750"/>
                    <a:pt x="2405174" y="153518"/>
                    <a:pt x="2395023" y="163669"/>
                  </a:cubicBezTo>
                  <a:cubicBezTo>
                    <a:pt x="2384872" y="173820"/>
                    <a:pt x="2371104" y="179523"/>
                    <a:pt x="2356748" y="179523"/>
                  </a:cubicBezTo>
                  <a:lnTo>
                    <a:pt x="54129" y="179523"/>
                  </a:lnTo>
                  <a:cubicBezTo>
                    <a:pt x="39773" y="179523"/>
                    <a:pt x="26005" y="173820"/>
                    <a:pt x="15854" y="163669"/>
                  </a:cubicBezTo>
                  <a:cubicBezTo>
                    <a:pt x="5703" y="153518"/>
                    <a:pt x="0" y="139750"/>
                    <a:pt x="0" y="125394"/>
                  </a:cubicBezTo>
                  <a:lnTo>
                    <a:pt x="0" y="54129"/>
                  </a:lnTo>
                  <a:cubicBezTo>
                    <a:pt x="0" y="39773"/>
                    <a:pt x="5703" y="26005"/>
                    <a:pt x="15854" y="15854"/>
                  </a:cubicBezTo>
                  <a:cubicBezTo>
                    <a:pt x="26005" y="5703"/>
                    <a:pt x="39773" y="0"/>
                    <a:pt x="54129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877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653453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4"/>
                </a:lnTo>
                <a:lnTo>
                  <a:pt x="0" y="460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5483736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4"/>
                </a:lnTo>
                <a:lnTo>
                  <a:pt x="0" y="460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798106" y="451980"/>
            <a:ext cx="51996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Iha Goyal (b23bb1020)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98106" y="1120473"/>
            <a:ext cx="7461194" cy="39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Ideation &amp; Novelty:</a:t>
            </a:r>
            <a:r>
              <a:rPr lang="en-US" sz="19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Spearheaded the literature review, selected the base MAT3D paper, and conceptualized the novel MAT-Mamba hybrid architecture.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Core Architecture</a:t>
            </a:r>
            <a:r>
              <a:rPr lang="en-US" sz="19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Engineered the custom PyTorch models, successfully implementing the Mamba3DLayer and MambaBottleneck into the Encoder.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Model Training</a:t>
            </a:r>
            <a:r>
              <a:rPr lang="en-US" sz="19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Managed the GPU mixed-precision training logic, debugging, and configured the Weights &amp; Biases (WandB) tracking environment.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Project Deliverables</a:t>
            </a:r>
            <a:r>
              <a:rPr lang="en-US" sz="19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Coordinated the project documentation for the Phase 2 report.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59170"/>
            <a:ext cx="6655626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INDIVIDUAL TEAM MEMBER’S CONTRIBUTION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98106" y="5282263"/>
            <a:ext cx="51996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Om Kumar (b23bb1030)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98106" y="5896765"/>
            <a:ext cx="7461194" cy="422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Data Engineering</a:t>
            </a:r>
            <a:r>
              <a:rPr lang="en-US" sz="20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Managed dataset acquisition and preprocessing,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Evaluation Scripts</a:t>
            </a:r>
            <a:r>
              <a:rPr lang="en-US" sz="20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Assisted in writing the supporting evaluation scripts to calculate the final Dice scores and generate the qualitative MRI visual outputs.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Qualitative Analysis &amp; Visualization</a:t>
            </a:r>
            <a:r>
              <a:rPr lang="en-US" sz="20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Developed the inference to generate high-resolution, side-by-side anatomical comparisons of MRI slices, Ground Truth masks, and model predictions for visual validation.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Project Deliverables</a:t>
            </a:r>
            <a:r>
              <a:rPr lang="en-US" sz="20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Coordinated the project documentation, structuring the data for the final presentation.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18458" y="4676775"/>
            <a:ext cx="1225108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106282" y="-1213717"/>
            <a:ext cx="8306036" cy="5971175"/>
          </a:xfrm>
          <a:custGeom>
            <a:avLst/>
            <a:gdLst/>
            <a:ahLst/>
            <a:cxnLst/>
            <a:rect r="r" b="b" t="t" l="l"/>
            <a:pathLst>
              <a:path h="5971175" w="8306036">
                <a:moveTo>
                  <a:pt x="0" y="0"/>
                </a:moveTo>
                <a:lnTo>
                  <a:pt x="8306036" y="0"/>
                </a:lnTo>
                <a:lnTo>
                  <a:pt x="8306036" y="5971175"/>
                </a:lnTo>
                <a:lnTo>
                  <a:pt x="0" y="5971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DAHFKzD4RYg</dc:identifier>
  <dcterms:modified xsi:type="dcterms:W3CDTF">2011-08-01T06:04:30Z</dcterms:modified>
  <cp:revision>1</cp:revision>
  <dc:title>phase 2</dc:title>
</cp:coreProperties>
</file>